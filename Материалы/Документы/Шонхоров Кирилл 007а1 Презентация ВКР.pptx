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321A4FCA-55E4-4F3F-94B5-E8D8AEE9034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48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C3CD3-52EB-4792-A9D9-987CD0351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441324"/>
            <a:ext cx="11306175" cy="2485349"/>
          </a:xfrm>
        </p:spPr>
        <p:txBody>
          <a:bodyPr wrap="square" lIns="0" tIns="0" rIns="0" bIns="0" anchor="b" anchorCtr="0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37AA7E-2193-4D1B-A896-BA7E30649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3" y="3070799"/>
            <a:ext cx="11306175" cy="2445758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4000"/>
              </a:lnSpc>
              <a:buNone/>
              <a:defRPr sz="4600">
                <a:solidFill>
                  <a:schemeClr val="tx2">
                    <a:alpha val="56000"/>
                  </a:schemeClr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A14B1-115B-40A3-9D71-3DE33E9DCE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4" y="5957999"/>
            <a:ext cx="3457574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</a:lstStyle>
          <a:p>
            <a:fld id="{8994394A-E95D-49DE-8614-F37E1FCF0AC3}" type="datetime2">
              <a:rPr lang="en-US" smtClean="0"/>
              <a:pPr/>
              <a:t>Friday, January 19,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C9B78-0E13-48BD-A3A2-B7E3C6090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67213" y="5957999"/>
            <a:ext cx="5400675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484B9-0F7E-4817-BA9A-C43684759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6200" y="5957999"/>
            <a:ext cx="1476375" cy="900000"/>
          </a:xfrm>
          <a:prstGeom prst="rect">
            <a:avLst/>
          </a:prstGeom>
        </p:spPr>
        <p:txBody>
          <a:bodyPr tIns="72000" bIns="72000"/>
          <a:lstStyle>
            <a:lvl1pPr algn="r">
              <a:defRPr sz="3600" b="0">
                <a:ln w="6350">
                  <a:solidFill>
                    <a:schemeClr val="tx2">
                      <a:alpha val="80000"/>
                    </a:schemeClr>
                  </a:solidFill>
                </a:ln>
                <a:noFill/>
                <a:latin typeface="+mn-lt"/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6D940-CD1A-46A6-8495-AD6F6CF8B13C}"/>
              </a:ext>
            </a:extLst>
          </p:cNvPr>
          <p:cNvCxnSpPr>
            <a:cxnSpLocks/>
          </p:cNvCxnSpPr>
          <p:nvPr/>
        </p:nvCxnSpPr>
        <p:spPr>
          <a:xfrm>
            <a:off x="0" y="5958000"/>
            <a:ext cx="12193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199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6">
          <p15:clr>
            <a:srgbClr val="5ACBF0"/>
          </p15:clr>
        </p15:guide>
        <p15:guide id="2" pos="3840">
          <p15:clr>
            <a:srgbClr val="F26B43"/>
          </p15:clr>
        </p15:guide>
        <p15:guide id="3" pos="279">
          <p15:clr>
            <a:srgbClr val="F26B43"/>
          </p15:clr>
        </p15:guide>
        <p15:guide id="4" pos="7401">
          <p15:clr>
            <a:srgbClr val="F26B43"/>
          </p15:clr>
        </p15:guide>
        <p15:guide id="5" pos="1232">
          <p15:clr>
            <a:srgbClr val="5ACBF0"/>
          </p15:clr>
        </p15:guide>
        <p15:guide id="6" pos="1504">
          <p15:clr>
            <a:srgbClr val="5ACBF0"/>
          </p15:clr>
        </p15:guide>
        <p15:guide id="7" pos="2457">
          <p15:clr>
            <a:srgbClr val="5ACBF0"/>
          </p15:clr>
        </p15:guide>
        <p15:guide id="8" pos="2751">
          <p15:clr>
            <a:srgbClr val="5ACBF0"/>
          </p15:clr>
        </p15:guide>
        <p15:guide id="9" pos="3704">
          <p15:clr>
            <a:srgbClr val="5ACBF0"/>
          </p15:clr>
        </p15:guide>
        <p15:guide id="10" pos="3976">
          <p15:clr>
            <a:srgbClr val="5ACBF0"/>
          </p15:clr>
        </p15:guide>
        <p15:guide id="11" pos="4929">
          <p15:clr>
            <a:srgbClr val="5ACBF0"/>
          </p15:clr>
        </p15:guide>
        <p15:guide id="12" pos="5223">
          <p15:clr>
            <a:srgbClr val="5ACBF0"/>
          </p15:clr>
        </p15:guide>
        <p15:guide id="13" pos="6153">
          <p15:clr>
            <a:srgbClr val="5ACBF0"/>
          </p15:clr>
        </p15:guide>
        <p15:guide id="14" pos="6448">
          <p15:clr>
            <a:srgbClr val="5ACBF0"/>
          </p15:clr>
        </p15:guide>
        <p15:guide id="18" orient="horz" pos="278">
          <p15:clr>
            <a:srgbClr val="F26B43"/>
          </p15:clr>
        </p15:guide>
        <p15:guide id="20" orient="horz" pos="867">
          <p15:clr>
            <a:srgbClr val="5ACBF0"/>
          </p15:clr>
        </p15:guide>
        <p15:guide id="21" orient="horz" pos="1729">
          <p15:clr>
            <a:srgbClr val="5ACBF0"/>
          </p15:clr>
        </p15:guide>
        <p15:guide id="22" orient="horz" pos="3475">
          <p15:clr>
            <a:srgbClr val="F26B43"/>
          </p15:clr>
        </p15:guide>
        <p15:guide id="28" orient="horz" pos="1139">
          <p15:clr>
            <a:srgbClr val="5ACBF0"/>
          </p15:clr>
        </p15:guide>
        <p15:guide id="29" orient="horz" pos="2591">
          <p15:clr>
            <a:srgbClr val="5ACBF0"/>
          </p15:clr>
        </p15:guide>
        <p15:guide id="30" orient="horz" pos="2024">
          <p15:clr>
            <a:srgbClr val="5ACBF0"/>
          </p15:clr>
        </p15:guide>
        <p15:guide id="31" orient="horz" pos="3748">
          <p15:clr>
            <a:srgbClr val="F26B43"/>
          </p15:clr>
        </p15:guide>
        <p15:guide id="32" orient="horz" pos="1888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696C-4B86-4CA0-A733-55338D7B1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328839"/>
            <a:ext cx="10406063" cy="1263423"/>
          </a:xfrm>
        </p:spPr>
        <p:txBody>
          <a:bodyPr wrap="square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B26C1-D742-4B12-B5E3-153A24D0A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025" y="2060575"/>
            <a:ext cx="10406063" cy="4356100"/>
          </a:xfrm>
        </p:spPr>
        <p:txBody>
          <a:bodyPr lIns="0" tIns="0" rIns="0" bIns="0">
            <a:noAutofit/>
          </a:bodyPr>
          <a:lstStyle>
            <a:lvl1pPr marL="360000" indent="-360000">
              <a:lnSpc>
                <a:spcPct val="120000"/>
              </a:lnSpc>
              <a:buSzPct val="70000"/>
              <a:buFont typeface="Wingdings 2" panose="05020102010507070707" pitchFamily="18" charset="2"/>
              <a:buChar char="à"/>
              <a:defRPr sz="2000">
                <a:solidFill>
                  <a:schemeClr val="tx2">
                    <a:alpha val="77000"/>
                  </a:schemeClr>
                </a:solidFill>
              </a:defRPr>
            </a:lvl1pPr>
            <a:lvl2pPr marL="720000" indent="-360000">
              <a:lnSpc>
                <a:spcPct val="120000"/>
              </a:lnSpc>
              <a:buSzPct val="70000"/>
              <a:buFont typeface="Wingdings 2" panose="05020102010507070707" pitchFamily="18" charset="2"/>
              <a:buChar char="à"/>
              <a:defRPr sz="2000">
                <a:solidFill>
                  <a:schemeClr val="tx2">
                    <a:alpha val="77000"/>
                  </a:schemeClr>
                </a:solidFill>
              </a:defRPr>
            </a:lvl2pPr>
            <a:lvl3pPr marL="1080000" indent="-288000">
              <a:lnSpc>
                <a:spcPct val="120000"/>
              </a:lnSpc>
              <a:buSzPct val="70000"/>
              <a:buFont typeface="Wingdings 2" panose="05020102010507070707" pitchFamily="18" charset="2"/>
              <a:buChar char="à"/>
              <a:defRPr sz="1600">
                <a:solidFill>
                  <a:schemeClr val="tx2">
                    <a:alpha val="77000"/>
                  </a:schemeClr>
                </a:solidFill>
              </a:defRPr>
            </a:lvl3pPr>
            <a:lvl4pPr marL="1440000" indent="-288000">
              <a:lnSpc>
                <a:spcPct val="120000"/>
              </a:lnSpc>
              <a:buSzPct val="70000"/>
              <a:buFont typeface="Wingdings 2" panose="05020102010507070707" pitchFamily="18" charset="2"/>
              <a:buChar char="à"/>
              <a:defRPr sz="1600">
                <a:solidFill>
                  <a:schemeClr val="tx2">
                    <a:alpha val="77000"/>
                  </a:schemeClr>
                </a:solidFill>
              </a:defRPr>
            </a:lvl4pPr>
            <a:lvl5pPr marL="1800000" indent="-288000">
              <a:lnSpc>
                <a:spcPct val="120000"/>
              </a:lnSpc>
              <a:buSzPct val="70000"/>
              <a:buFont typeface="Wingdings 2" panose="05020102010507070707" pitchFamily="18" charset="2"/>
              <a:buChar char="à"/>
              <a:defRPr sz="1600">
                <a:solidFill>
                  <a:schemeClr val="tx2">
                    <a:alpha val="77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6243987-D9E3-40C9-94D4-B3CCFE71A4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936000" y="1378800"/>
            <a:ext cx="2772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fld id="{58D82CC3-100B-41FC-9DB0-99A6D4849F72}" type="datetime2">
              <a:rPr lang="en-US" smtClean="0"/>
              <a:pPr/>
              <a:t>Friday, January 19, 2024</a:t>
            </a:fld>
            <a:endParaRPr lang="en-US" dirty="0">
              <a:latin typeface="+mn-lt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BF37532-63DB-40A9-90C9-9B3BB694D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810000" y="4240800"/>
            <a:ext cx="2520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/>
              <a:t>Sample Footer Text</a:t>
            </a:r>
            <a:endParaRPr lang="en-US" dirty="0">
              <a:latin typeface="+mn-lt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007CCEE-A736-4DEE-982A-45CDF794F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958000"/>
            <a:ext cx="900000" cy="90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600" b="0">
                <a:ln w="6350">
                  <a:solidFill>
                    <a:schemeClr val="tx2">
                      <a:alpha val="80000"/>
                    </a:schemeClr>
                  </a:solidFill>
                </a:ln>
                <a:noFill/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386491-6F13-4235-A32F-9F6D67F13D05}"/>
              </a:ext>
            </a:extLst>
          </p:cNvPr>
          <p:cNvCxnSpPr>
            <a:cxnSpLocks/>
          </p:cNvCxnSpPr>
          <p:nvPr/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177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2" pos="7401">
          <p15:clr>
            <a:srgbClr val="F26B43"/>
          </p15:clr>
        </p15:guide>
        <p15:guide id="14" orient="horz" pos="278">
          <p15:clr>
            <a:srgbClr val="F26B43"/>
          </p15:clr>
        </p15:guide>
        <p15:guide id="15" orient="horz" pos="4042">
          <p15:clr>
            <a:srgbClr val="F26B43"/>
          </p15:clr>
        </p15:guide>
        <p15:guide id="16" orient="horz" pos="1003">
          <p15:clr>
            <a:srgbClr val="5ACBF0"/>
          </p15:clr>
        </p15:guide>
        <p15:guide id="17" orient="horz" pos="1298">
          <p15:clr>
            <a:srgbClr val="5ACBF0"/>
          </p15:clr>
        </p15:guide>
        <p15:guide id="18" orient="horz" pos="2024">
          <p15:clr>
            <a:srgbClr val="5ACBF0"/>
          </p15:clr>
        </p15:guide>
        <p15:guide id="19" orient="horz" pos="2296">
          <p15:clr>
            <a:srgbClr val="5ACBF0"/>
          </p15:clr>
        </p15:guide>
        <p15:guide id="20" orient="horz" pos="3022">
          <p15:clr>
            <a:srgbClr val="5ACBF0"/>
          </p15:clr>
        </p15:guide>
        <p15:guide id="21" orient="horz" pos="3317">
          <p15:clr>
            <a:srgbClr val="5ACBF0"/>
          </p15:clr>
        </p15:guide>
        <p15:guide id="22" pos="846">
          <p15:clr>
            <a:srgbClr val="F26B43"/>
          </p15:clr>
        </p15:guide>
        <p15:guide id="23" pos="1708">
          <p15:clr>
            <a:srgbClr val="5ACBF0"/>
          </p15:clr>
        </p15:guide>
        <p15:guide id="24" pos="2003">
          <p15:clr>
            <a:srgbClr val="5ACBF0"/>
          </p15:clr>
        </p15:guide>
        <p15:guide id="25" pos="2842">
          <p15:clr>
            <a:srgbClr val="5ACBF0"/>
          </p15:clr>
        </p15:guide>
        <p15:guide id="26" pos="3137">
          <p15:clr>
            <a:srgbClr val="5ACBF0"/>
          </p15:clr>
        </p15:guide>
        <p15:guide id="28" pos="3976">
          <p15:clr>
            <a:srgbClr val="5ACBF0"/>
          </p15:clr>
        </p15:guide>
        <p15:guide id="29" pos="5110">
          <p15:clr>
            <a:srgbClr val="5ACBF0"/>
          </p15:clr>
        </p15:guide>
        <p15:guide id="30" pos="5405">
          <p15:clr>
            <a:srgbClr val="5ACBF0"/>
          </p15:clr>
        </p15:guide>
        <p15:guide id="31" pos="6267">
          <p15:clr>
            <a:srgbClr val="5ACBF0"/>
          </p15:clr>
        </p15:guide>
        <p15:guide id="32" pos="6539">
          <p15:clr>
            <a:srgbClr val="5ACBF0"/>
          </p15:clr>
        </p15:guide>
        <p15:guide id="33" pos="574">
          <p15:clr>
            <a:srgbClr val="F26B43"/>
          </p15:clr>
        </p15:guide>
        <p15:guide id="34" pos="427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4A12-D27E-4943-9C01-3BAB8E6F3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435429"/>
            <a:ext cx="11269661" cy="331730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9FB4-A15D-4A4C-9518-2A54AAF12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3832563"/>
            <a:ext cx="11269661" cy="1527175"/>
          </a:xfr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tx2">
                    <a:alpha val="56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8F31430D-78C1-413D-9D0E-779491324E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4" y="5957999"/>
            <a:ext cx="3457574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58FDCC-AC46-4D9F-98DC-C163BFA43704}" type="datetime2">
              <a:rPr lang="en-US" smtClean="0"/>
              <a:t>Friday, January 19, 2024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F437B06F-6E01-48C4-A79E-B8559775E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67213" y="5957999"/>
            <a:ext cx="5400675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3C4C198-D899-4BDA-877C-D8A3CAD32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6200" y="5957999"/>
            <a:ext cx="1476375" cy="900000"/>
          </a:xfrm>
          <a:prstGeom prst="rect">
            <a:avLst/>
          </a:prstGeom>
        </p:spPr>
        <p:txBody>
          <a:bodyPr tIns="72000" bIns="72000"/>
          <a:lstStyle>
            <a:lvl1pPr algn="r">
              <a:defRPr sz="3600" b="0">
                <a:ln w="6350">
                  <a:solidFill>
                    <a:schemeClr val="tx2">
                      <a:alpha val="80000"/>
                    </a:schemeClr>
                  </a:solidFill>
                </a:ln>
                <a:noFill/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7955689-FF51-4F45-9ABB-35CEF1E96A0C}"/>
              </a:ext>
            </a:extLst>
          </p:cNvPr>
          <p:cNvCxnSpPr>
            <a:cxnSpLocks/>
          </p:cNvCxnSpPr>
          <p:nvPr/>
        </p:nvCxnSpPr>
        <p:spPr>
          <a:xfrm>
            <a:off x="0" y="5958000"/>
            <a:ext cx="12193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807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76EFA-DCD1-439C-848B-9465217A6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800" y="327600"/>
            <a:ext cx="11269660" cy="11412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E0590-915B-4BD8-8660-C5BE9D1756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2914" y="1825625"/>
            <a:ext cx="5400675" cy="36988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B82F1-F0AC-48D5-9F1C-5141E4C177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1899" y="1825625"/>
            <a:ext cx="5400675" cy="36988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51D4ED8D-AAB0-42B0-91B5-93260AC18F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4" y="5957999"/>
            <a:ext cx="3457574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832F11-C374-493A-BB7E-11B09A67FAD0}" type="datetime2">
              <a:rPr lang="en-US" smtClean="0"/>
              <a:t>Friday, January 19, 2024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6C7CAD99-5F8F-43D0-83F2-E1F53021D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67213" y="5957999"/>
            <a:ext cx="5400675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A52DE47-9FB8-4EF9-B8CE-368912600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6200" y="5957999"/>
            <a:ext cx="1476375" cy="900000"/>
          </a:xfrm>
          <a:prstGeom prst="rect">
            <a:avLst/>
          </a:prstGeom>
        </p:spPr>
        <p:txBody>
          <a:bodyPr tIns="72000" bIns="72000"/>
          <a:lstStyle>
            <a:lvl1pPr algn="r">
              <a:defRPr sz="3600" b="0">
                <a:ln w="6350">
                  <a:solidFill>
                    <a:schemeClr val="tx2">
                      <a:alpha val="80000"/>
                    </a:schemeClr>
                  </a:solidFill>
                </a:ln>
                <a:noFill/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C5E49A-E440-42D6-8B0F-D4B5BAD8CAB8}"/>
              </a:ext>
            </a:extLst>
          </p:cNvPr>
          <p:cNvCxnSpPr>
            <a:cxnSpLocks/>
          </p:cNvCxnSpPr>
          <p:nvPr/>
        </p:nvCxnSpPr>
        <p:spPr>
          <a:xfrm>
            <a:off x="0" y="5958000"/>
            <a:ext cx="12193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11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782FF-2A32-49DE-8CD8-110B86565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99" y="327598"/>
            <a:ext cx="11269775" cy="136309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8169D-3731-4C94-88AE-B0A6F9E0B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797" y="1790700"/>
            <a:ext cx="5437187" cy="615950"/>
          </a:xfrm>
        </p:spPr>
        <p:txBody>
          <a:bodyPr anchor="b">
            <a:normAutofit/>
          </a:bodyPr>
          <a:lstStyle>
            <a:lvl1pPr marL="0" indent="0">
              <a:buNone/>
              <a:defRPr sz="12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F9D0F-6C05-441B-9D94-466C79598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2797" y="2505075"/>
            <a:ext cx="5437187" cy="30114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F90129-65EC-4BFC-B51F-3F21746443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1786" y="1790700"/>
            <a:ext cx="5437187" cy="615950"/>
          </a:xfrm>
        </p:spPr>
        <p:txBody>
          <a:bodyPr anchor="b">
            <a:normAutofit/>
          </a:bodyPr>
          <a:lstStyle>
            <a:lvl1pPr marL="0" indent="0">
              <a:buNone/>
              <a:defRPr sz="12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1AAB39-390C-4C6E-90BC-E2A2548658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1786" y="2505075"/>
            <a:ext cx="5437187" cy="30114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3E94383-11E6-486C-8325-BE8B447AA7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4" y="5957999"/>
            <a:ext cx="3457574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36546C-EE55-422E-9D57-50E6C4234F80}" type="datetime2">
              <a:rPr lang="en-US" smtClean="0"/>
              <a:t>Friday, January 19, 2024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6F62069A-7C14-42BA-A1F2-AE00A6BCD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67213" y="5957999"/>
            <a:ext cx="5400675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92246C7-481F-434A-A687-C6734C2FA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6200" y="5957999"/>
            <a:ext cx="1476375" cy="900000"/>
          </a:xfrm>
          <a:prstGeom prst="rect">
            <a:avLst/>
          </a:prstGeom>
        </p:spPr>
        <p:txBody>
          <a:bodyPr tIns="72000" bIns="72000"/>
          <a:lstStyle>
            <a:lvl1pPr algn="r">
              <a:defRPr sz="3600" b="0">
                <a:ln w="6350">
                  <a:solidFill>
                    <a:schemeClr val="tx2">
                      <a:alpha val="80000"/>
                    </a:schemeClr>
                  </a:solidFill>
                </a:ln>
                <a:noFill/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30E56EE-505D-4420-971C-982EA4EF0564}"/>
              </a:ext>
            </a:extLst>
          </p:cNvPr>
          <p:cNvCxnSpPr>
            <a:cxnSpLocks/>
          </p:cNvCxnSpPr>
          <p:nvPr/>
        </p:nvCxnSpPr>
        <p:spPr>
          <a:xfrm>
            <a:off x="0" y="5958000"/>
            <a:ext cx="12193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167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2FFBA-B7FA-43C2-A543-187E29A62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B4886C6-7F2A-4A13-85F1-EFDA370C5B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936000" y="1378800"/>
            <a:ext cx="2772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fld id="{83685C8A-A1A1-423D-82D7-1ACC187CCA77}" type="datetime2">
              <a:rPr lang="en-US" smtClean="0"/>
              <a:pPr/>
              <a:t>Friday, January 19, 2024</a:t>
            </a:fld>
            <a:endParaRPr lang="en-US" dirty="0">
              <a:latin typeface="+mn-lt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9FAAFC2-F91B-4189-A9FA-0696BF84D6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810000" y="4240800"/>
            <a:ext cx="2520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/>
              <a:t>Sample Footer Text</a:t>
            </a:r>
            <a:endParaRPr lang="en-US" dirty="0">
              <a:latin typeface="+mn-lt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5B673D0-3765-46AD-B094-DDF79E463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958000"/>
            <a:ext cx="900000" cy="90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600" b="0">
                <a:ln w="6350">
                  <a:solidFill>
                    <a:schemeClr val="tx2">
                      <a:alpha val="80000"/>
                    </a:schemeClr>
                  </a:solidFill>
                </a:ln>
                <a:noFill/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A31187-FB8B-4DDF-A5A9-69AB1359F0E9}"/>
              </a:ext>
            </a:extLst>
          </p:cNvPr>
          <p:cNvCxnSpPr>
            <a:cxnSpLocks/>
          </p:cNvCxnSpPr>
          <p:nvPr/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366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09A0147-2421-4881-958A-681569CD7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936000" y="1378800"/>
            <a:ext cx="2772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fld id="{325DF798-D264-4BC9-8824-70A25106E4C6}" type="datetime2">
              <a:rPr lang="en-US" smtClean="0"/>
              <a:pPr/>
              <a:t>Friday, January 19, 2024</a:t>
            </a:fld>
            <a:endParaRPr lang="en-US" dirty="0">
              <a:latin typeface="+mn-lt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14BF4BE-E699-4D5B-AD90-3918DA32E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810000" y="4240800"/>
            <a:ext cx="2520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/>
              <a:t>Sample Footer Text</a:t>
            </a:r>
            <a:endParaRPr lang="en-US" dirty="0">
              <a:latin typeface="+mn-lt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849F009-8335-40E3-B8F6-E0C944D9F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958000"/>
            <a:ext cx="900000" cy="90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600" b="0">
                <a:ln w="6350">
                  <a:solidFill>
                    <a:schemeClr val="tx2">
                      <a:alpha val="80000"/>
                    </a:schemeClr>
                  </a:solidFill>
                </a:ln>
                <a:noFill/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AA0935-460F-4638-9E37-D59F2DEC0AC4}"/>
              </a:ext>
            </a:extLst>
          </p:cNvPr>
          <p:cNvCxnSpPr>
            <a:cxnSpLocks/>
          </p:cNvCxnSpPr>
          <p:nvPr/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941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0A843-22A2-45CD-8189-8D0947C04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5" y="383270"/>
            <a:ext cx="3457573" cy="1373076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AAB4C-B3C9-4E63-8A1B-082C0F492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213" y="349369"/>
            <a:ext cx="7345362" cy="5167187"/>
          </a:xfrm>
        </p:spPr>
        <p:txBody>
          <a:bodyPr/>
          <a:lstStyle>
            <a:lvl1pPr>
              <a:lnSpc>
                <a:spcPct val="112000"/>
              </a:lnSpc>
              <a:defRPr sz="3200">
                <a:solidFill>
                  <a:schemeClr val="tx2">
                    <a:alpha val="77000"/>
                  </a:schemeClr>
                </a:solidFill>
              </a:defRPr>
            </a:lvl1pPr>
            <a:lvl2pPr>
              <a:lnSpc>
                <a:spcPct val="112000"/>
              </a:lnSpc>
              <a:defRPr sz="3200">
                <a:solidFill>
                  <a:schemeClr val="tx2">
                    <a:alpha val="77000"/>
                  </a:schemeClr>
                </a:solidFill>
              </a:defRPr>
            </a:lvl2pPr>
            <a:lvl3pPr>
              <a:lnSpc>
                <a:spcPct val="120000"/>
              </a:lnSpc>
              <a:defRPr sz="2000">
                <a:solidFill>
                  <a:schemeClr val="tx2">
                    <a:alpha val="77000"/>
                  </a:schemeClr>
                </a:solidFill>
              </a:defRPr>
            </a:lvl3pPr>
            <a:lvl4pPr>
              <a:lnSpc>
                <a:spcPct val="120000"/>
              </a:lnSpc>
              <a:defRPr sz="2000">
                <a:solidFill>
                  <a:schemeClr val="tx2">
                    <a:alpha val="77000"/>
                  </a:schemeClr>
                </a:solidFill>
              </a:defRPr>
            </a:lvl4pPr>
            <a:lvl5pPr>
              <a:lnSpc>
                <a:spcPct val="120000"/>
              </a:lnSpc>
              <a:defRPr sz="1600">
                <a:solidFill>
                  <a:schemeClr val="tx2">
                    <a:alpha val="77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DF08E-8814-4AB5-9EEC-0052256A7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2915" y="2264229"/>
            <a:ext cx="3457573" cy="317137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>
                    <a:alpha val="77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65940B35-2B52-4835-9F7F-6AB86A1212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4" y="5957999"/>
            <a:ext cx="3457574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CAD25-C1CF-4F11-8692-066E6505443C}" type="datetime2">
              <a:rPr lang="en-US" smtClean="0"/>
              <a:t>Friday, January 19, 2024</a:t>
            </a:fld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0BAE5D7E-7CFE-48B9-836B-640E4E881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67213" y="5957999"/>
            <a:ext cx="5400675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507FA91D-E0EF-4D4B-9E56-5E0033042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6200" y="5957999"/>
            <a:ext cx="1476375" cy="900000"/>
          </a:xfrm>
          <a:prstGeom prst="rect">
            <a:avLst/>
          </a:prstGeom>
        </p:spPr>
        <p:txBody>
          <a:bodyPr tIns="72000" bIns="72000"/>
          <a:lstStyle>
            <a:lvl1pPr algn="r">
              <a:defRPr sz="3600" b="0">
                <a:ln w="6350">
                  <a:solidFill>
                    <a:schemeClr val="tx2">
                      <a:alpha val="80000"/>
                    </a:schemeClr>
                  </a:solidFill>
                </a:ln>
                <a:noFill/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703507D-4779-4D32-85CB-0A8040B6E552}"/>
              </a:ext>
            </a:extLst>
          </p:cNvPr>
          <p:cNvCxnSpPr>
            <a:cxnSpLocks/>
          </p:cNvCxnSpPr>
          <p:nvPr/>
        </p:nvCxnSpPr>
        <p:spPr>
          <a:xfrm>
            <a:off x="0" y="5958000"/>
            <a:ext cx="12193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9828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869B5-6EAD-4108-B9E2-9CABAB9DE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088" y="441324"/>
            <a:ext cx="3932237" cy="95204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75599E-B10D-4308-A5CB-CC7D487B49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8488" y="441324"/>
            <a:ext cx="6078083" cy="550862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>
                    <a:alpha val="77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34C18-5042-469D-BCF7-26AD9FDCC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35088" y="1778000"/>
            <a:ext cx="3932237" cy="41719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>
                    <a:alpha val="77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FB01925-1670-4C63-8B44-2B14B7BE9D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-935887" y="1377212"/>
            <a:ext cx="2771775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688A1C-01B8-42B6-BBF1-2BCF5E311248}" type="datetime2">
              <a:rPr lang="en-US" smtClean="0"/>
              <a:t>Friday, January 19, 2024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CE1A673-960F-4A50-AE54-70AE0DA3B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810475" y="4239475"/>
            <a:ext cx="2520950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EF9E6C-740A-4B36-BA9F-32AF986ED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5949950"/>
            <a:ext cx="900000" cy="900000"/>
          </a:xfrm>
          <a:prstGeom prst="rect">
            <a:avLst/>
          </a:prstGeom>
        </p:spPr>
        <p:txBody>
          <a:bodyPr lIns="72000" rIns="72000">
            <a:normAutofit/>
          </a:bodyPr>
          <a:lstStyle>
            <a:lvl1pPr algn="ctr">
              <a:defRPr sz="3600" b="0">
                <a:ln w="6350">
                  <a:solidFill>
                    <a:schemeClr val="tx2"/>
                  </a:solidFill>
                </a:ln>
                <a:noFill/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31C920-29CA-4744-9814-A4FCF4554907}"/>
              </a:ext>
            </a:extLst>
          </p:cNvPr>
          <p:cNvCxnSpPr>
            <a:cxnSpLocks/>
          </p:cNvCxnSpPr>
          <p:nvPr/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57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8E95E-B3FC-4D66-AAC3-CE9FD633E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D0FFAF-EB02-4979-83B6-66AD14845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0AB40A8D-7F5B-455D-B9AC-EAFE05F87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936000" y="1378800"/>
            <a:ext cx="2772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fld id="{6D51179E-60E8-4F2A-A3F9-6F3CE2ABCAF9}" type="datetime2">
              <a:rPr lang="en-US" smtClean="0"/>
              <a:pPr/>
              <a:t>Friday, January 19, 2024</a:t>
            </a:fld>
            <a:endParaRPr lang="en-US" dirty="0">
              <a:latin typeface="+mn-lt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45360FA1-A0D1-4CA7-BAC8-9C20FBB59E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810000" y="4240800"/>
            <a:ext cx="2520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/>
              <a:t>Sample Footer Text</a:t>
            </a:r>
            <a:endParaRPr lang="en-US" dirty="0">
              <a:latin typeface="+mn-lt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2494D40-34C6-48DD-A14E-8065BE4F3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958000"/>
            <a:ext cx="900000" cy="90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600" b="0">
                <a:ln w="6350">
                  <a:solidFill>
                    <a:schemeClr val="tx2">
                      <a:alpha val="80000"/>
                    </a:schemeClr>
                  </a:solidFill>
                </a:ln>
                <a:noFill/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9D7C2D-6B7C-4FBF-9665-A9282DF48F83}"/>
              </a:ext>
            </a:extLst>
          </p:cNvPr>
          <p:cNvCxnSpPr>
            <a:cxnSpLocks/>
          </p:cNvCxnSpPr>
          <p:nvPr/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453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1495EC-612C-4307-A7A6-017829B8C8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12127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33132-1A8F-43A9-9321-6FCF01B0F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121270"/>
          </a:xfrm>
        </p:spPr>
        <p:txBody>
          <a:bodyPr vert="eaVert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BF2CA1B-9192-487B-96D3-6D389608F1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4" y="5957999"/>
            <a:ext cx="3457574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32B061-4DDF-403A-A7DB-3B6FD0BE9165}" type="datetime2">
              <a:rPr lang="en-US" smtClean="0"/>
              <a:t>Friday, January 19, 2024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B1C9EA4-CA0A-4396-B4AF-4523CD1B2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67213" y="5957999"/>
            <a:ext cx="5400675" cy="9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CDDF132-C1DB-4EE0-85DA-1FFAC2835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6200" y="5957999"/>
            <a:ext cx="1476375" cy="900000"/>
          </a:xfrm>
          <a:prstGeom prst="rect">
            <a:avLst/>
          </a:prstGeom>
        </p:spPr>
        <p:txBody>
          <a:bodyPr tIns="72000" bIns="72000"/>
          <a:lstStyle>
            <a:lvl1pPr algn="r">
              <a:defRPr sz="3600" b="0">
                <a:ln w="6350">
                  <a:solidFill>
                    <a:schemeClr val="tx2">
                      <a:alpha val="80000"/>
                    </a:schemeClr>
                  </a:solidFill>
                </a:ln>
                <a:noFill/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ECED4D-938A-4085-B475-DD4ED90A181B}"/>
              </a:ext>
            </a:extLst>
          </p:cNvPr>
          <p:cNvCxnSpPr>
            <a:cxnSpLocks/>
          </p:cNvCxnSpPr>
          <p:nvPr/>
        </p:nvCxnSpPr>
        <p:spPr>
          <a:xfrm>
            <a:off x="0" y="5958000"/>
            <a:ext cx="12193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142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iagBrick">
          <a:fgClr>
            <a:schemeClr val="bg1"/>
          </a:fgClr>
          <a:bgClr>
            <a:schemeClr val="bg2">
              <a:lumMod val="9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086052-6759-46BD-9531-D65FD9551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800" y="327600"/>
            <a:ext cx="10407600" cy="11412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3C3A5-7533-48B0-9C15-F01656766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2800" y="2059199"/>
            <a:ext cx="10407600" cy="4356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135256E-21FA-473A-8EAF-34CE9AD372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936000" y="1378800"/>
            <a:ext cx="2772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fld id="{6C03BBDD-218C-4B2A-98A0-F5F369754705}" type="datetime2">
              <a:rPr lang="en-US" smtClean="0"/>
              <a:pPr/>
              <a:t>Friday, January 19, 2024</a:t>
            </a:fld>
            <a:endParaRPr lang="en-US" dirty="0"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9857-D06D-4AFF-8777-07EF0A15F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810000" y="4240800"/>
            <a:ext cx="2520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/>
              <a:t>Sample Footer Text</a:t>
            </a:r>
            <a:endParaRPr lang="en-US" dirty="0">
              <a:latin typeface="+mn-lt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172703B-0DDF-46CE-AC34-623357994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958000"/>
            <a:ext cx="900000" cy="90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600" b="0">
                <a:ln w="6350">
                  <a:solidFill>
                    <a:schemeClr val="tx2">
                      <a:alpha val="80000"/>
                    </a:schemeClr>
                  </a:solidFill>
                </a:ln>
                <a:noFill/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618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tx2"/>
          </a:solidFill>
          <a:latin typeface="+mj-lt"/>
          <a:ea typeface="Microsoft Sans Serif" panose="020B0604020202020204" pitchFamily="34" charset="0"/>
          <a:cs typeface="Microsoft Sans Serif" panose="020B0604020202020204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120000"/>
        </a:lnSpc>
        <a:spcBef>
          <a:spcPts val="800"/>
        </a:spcBef>
        <a:buSzPct val="70000"/>
        <a:buFont typeface="Wingdings 2" panose="05020102010507070707" pitchFamily="18" charset="2"/>
        <a:buChar char="à"/>
        <a:defRPr sz="2000" kern="1200">
          <a:solidFill>
            <a:schemeClr val="tx2">
              <a:alpha val="77000"/>
            </a:schemeClr>
          </a:solidFill>
          <a:latin typeface="+mn-lt"/>
          <a:ea typeface="Microsoft Sans Serif" panose="020B0604020202020204" pitchFamily="34" charset="0"/>
          <a:cs typeface="Microsoft Sans Serif" panose="020B0604020202020204" pitchFamily="34" charset="0"/>
        </a:defRPr>
      </a:lvl1pPr>
      <a:lvl2pPr marL="720000" indent="-360000" algn="l" defTabSz="914400" rtl="0" eaLnBrk="1" latinLnBrk="0" hangingPunct="1">
        <a:lnSpc>
          <a:spcPct val="120000"/>
        </a:lnSpc>
        <a:spcBef>
          <a:spcPts val="800"/>
        </a:spcBef>
        <a:buSzPct val="70000"/>
        <a:buFont typeface="Wingdings 2" panose="05020102010507070707" pitchFamily="18" charset="2"/>
        <a:buChar char="à"/>
        <a:defRPr sz="2000" kern="1200">
          <a:solidFill>
            <a:schemeClr val="tx2">
              <a:alpha val="77000"/>
            </a:schemeClr>
          </a:solidFill>
          <a:latin typeface="+mn-lt"/>
          <a:ea typeface="Microsoft Sans Serif" panose="020B0604020202020204" pitchFamily="34" charset="0"/>
          <a:cs typeface="Microsoft Sans Serif" panose="020B0604020202020204" pitchFamily="34" charset="0"/>
        </a:defRPr>
      </a:lvl2pPr>
      <a:lvl3pPr marL="1143000" indent="-288000" algn="l" defTabSz="914400" rtl="0" eaLnBrk="1" latinLnBrk="0" hangingPunct="1">
        <a:lnSpc>
          <a:spcPct val="120000"/>
        </a:lnSpc>
        <a:spcBef>
          <a:spcPts val="800"/>
        </a:spcBef>
        <a:buSzPct val="70000"/>
        <a:buFont typeface="Wingdings 2" panose="05020102010507070707" pitchFamily="18" charset="2"/>
        <a:buChar char="à"/>
        <a:defRPr sz="1600" kern="1200">
          <a:solidFill>
            <a:schemeClr val="tx2">
              <a:alpha val="77000"/>
            </a:schemeClr>
          </a:solidFill>
          <a:latin typeface="+mn-lt"/>
          <a:ea typeface="Microsoft Sans Serif" panose="020B0604020202020204" pitchFamily="34" charset="0"/>
          <a:cs typeface="Microsoft Sans Serif" panose="020B0604020202020204" pitchFamily="34" charset="0"/>
        </a:defRPr>
      </a:lvl3pPr>
      <a:lvl4pPr marL="1600200" indent="-288000" algn="l" defTabSz="914400" rtl="0" eaLnBrk="1" latinLnBrk="0" hangingPunct="1">
        <a:lnSpc>
          <a:spcPct val="120000"/>
        </a:lnSpc>
        <a:spcBef>
          <a:spcPts val="800"/>
        </a:spcBef>
        <a:buSzPct val="70000"/>
        <a:buFont typeface="Wingdings 2" panose="05020102010507070707" pitchFamily="18" charset="2"/>
        <a:buChar char="à"/>
        <a:defRPr sz="1600" kern="1200">
          <a:solidFill>
            <a:schemeClr val="tx2">
              <a:alpha val="77000"/>
            </a:schemeClr>
          </a:solidFill>
          <a:latin typeface="+mn-lt"/>
          <a:ea typeface="Microsoft Sans Serif" panose="020B0604020202020204" pitchFamily="34" charset="0"/>
          <a:cs typeface="Microsoft Sans Serif" panose="020B0604020202020204" pitchFamily="34" charset="0"/>
        </a:defRPr>
      </a:lvl4pPr>
      <a:lvl5pPr marL="2057400" indent="-288000" algn="l" defTabSz="914400" rtl="0" eaLnBrk="1" latinLnBrk="0" hangingPunct="1">
        <a:lnSpc>
          <a:spcPct val="120000"/>
        </a:lnSpc>
        <a:spcBef>
          <a:spcPts val="800"/>
        </a:spcBef>
        <a:buSzPct val="70000"/>
        <a:buFont typeface="Wingdings 2" panose="05020102010507070707" pitchFamily="18" charset="2"/>
        <a:buChar char="à"/>
        <a:defRPr sz="1600" kern="1200">
          <a:solidFill>
            <a:schemeClr val="tx2">
              <a:alpha val="77000"/>
            </a:schemeClr>
          </a:solidFill>
          <a:latin typeface="+mn-lt"/>
          <a:ea typeface="Microsoft Sans Serif" panose="020B0604020202020204" pitchFamily="34" charset="0"/>
          <a:cs typeface="Microsoft Sans Serif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0FB5FF-D1A8-4F9D-AC1F-75A3B86AC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8004" y="1975306"/>
            <a:ext cx="10335986" cy="1453694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веб-приложения для взаимодействия с конечно-элементным расчётным модулем “</a:t>
            </a:r>
            <a:r>
              <a:rPr lang="en-US" sz="2800" b="1" dirty="0" err="1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Pioner</a:t>
            </a:r>
            <a:r>
              <a:rPr lang="ru-RU" sz="2800" b="1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 на примере задачи простого сдвига</a:t>
            </a:r>
            <a:endParaRPr lang="ru-RU" sz="28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BA94C47-55D9-47DC-970E-2BF6A26F3B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6403" y="260882"/>
            <a:ext cx="7519189" cy="678012"/>
          </a:xfrm>
        </p:spPr>
        <p:txBody>
          <a:bodyPr>
            <a:noAutofit/>
          </a:bodyPr>
          <a:lstStyle/>
          <a:p>
            <a:pPr algn="ctr">
              <a:lnSpc>
                <a:spcPct val="80000"/>
              </a:lnSpc>
            </a:pPr>
            <a:r>
              <a:rPr lang="ru-RU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Высший колледж информатики Университета (ВКИ НГУ)</a:t>
            </a:r>
          </a:p>
          <a:p>
            <a:pPr algn="ctr">
              <a:lnSpc>
                <a:spcPct val="80000"/>
              </a:lnSpc>
            </a:pPr>
            <a:r>
              <a:rPr lang="ru-RU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КАФЕДРА ИНФОРМАТИКИ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77DE4973-5835-4D2A-9C45-E05BC441A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651667"/>
              </p:ext>
            </p:extLst>
          </p:nvPr>
        </p:nvGraphicFramePr>
        <p:xfrm>
          <a:off x="442230" y="3959679"/>
          <a:ext cx="11307536" cy="17035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3768">
                  <a:extLst>
                    <a:ext uri="{9D8B030D-6E8A-4147-A177-3AD203B41FA5}">
                      <a16:colId xmlns:a16="http://schemas.microsoft.com/office/drawing/2014/main" val="727994269"/>
                    </a:ext>
                  </a:extLst>
                </a:gridCol>
                <a:gridCol w="5653768">
                  <a:extLst>
                    <a:ext uri="{9D8B030D-6E8A-4147-A177-3AD203B41FA5}">
                      <a16:colId xmlns:a16="http://schemas.microsoft.com/office/drawing/2014/main" val="3101733504"/>
                    </a:ext>
                  </a:extLst>
                </a:gridCol>
              </a:tblGrid>
              <a:tr h="1002463">
                <a:tc>
                  <a:txBody>
                    <a:bodyPr/>
                    <a:lstStyle/>
                    <a:p>
                      <a:r>
                        <a:rPr lang="ru-RU" sz="2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Руководитель</a:t>
                      </a:r>
                    </a:p>
                    <a:p>
                      <a:r>
                        <a:rPr lang="ru-RU" sz="20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к.ф.-м.н., </a:t>
                      </a:r>
                      <a:r>
                        <a:rPr lang="ru-RU" sz="2000" b="1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с.н.с</a:t>
                      </a:r>
                      <a:r>
                        <a:rPr lang="ru-RU" sz="20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ru-RU" sz="2000" b="1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ИГиЛ</a:t>
                      </a:r>
                      <a:r>
                        <a:rPr lang="ru-RU" sz="20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СО РАН</a:t>
                      </a:r>
                      <a:endParaRPr lang="ru-RU" sz="20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Ларичкин А.Ю.</a:t>
                      </a:r>
                      <a:endParaRPr lang="ru-RU" sz="20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970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Студент 4 курса</a:t>
                      </a:r>
                    </a:p>
                    <a:p>
                      <a:r>
                        <a:rPr lang="ru-RU" sz="2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007а1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2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Шонхоров</a:t>
                      </a:r>
                      <a:r>
                        <a:rPr lang="ru-RU" sz="2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К.О.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4578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926BD5E-9428-46F2-BD61-8CAF23721128}"/>
              </a:ext>
            </a:extLst>
          </p:cNvPr>
          <p:cNvSpPr txBox="1"/>
          <p:nvPr/>
        </p:nvSpPr>
        <p:spPr>
          <a:xfrm>
            <a:off x="5345634" y="6090557"/>
            <a:ext cx="15007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Новосибирск</a:t>
            </a:r>
          </a:p>
          <a:p>
            <a:pPr algn="ctr"/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2474032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81421A5-4B98-485E-AED0-0DADC639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6090" y="315522"/>
            <a:ext cx="1699819" cy="474243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Цели ВКР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DE1613-0E4C-4AA1-9C42-7D13E84FF156}"/>
              </a:ext>
            </a:extLst>
          </p:cNvPr>
          <p:cNvSpPr txBox="1"/>
          <p:nvPr/>
        </p:nvSpPr>
        <p:spPr>
          <a:xfrm>
            <a:off x="1251284" y="1288936"/>
            <a:ext cx="1039528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600" b="1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Цель</a:t>
            </a:r>
            <a:r>
              <a:rPr lang="en-US" sz="2600" b="1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sz="2600" b="1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600" dirty="0">
                <a:solidFill>
                  <a:schemeClr val="tx1">
                    <a:alpha val="77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</a:t>
            </a:r>
            <a:r>
              <a:rPr lang="ru-RU" sz="2600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азработать программное средство для Института Гидродинамики им. М. А. Лаврентьева предназначенное для взаимодействия конечно-элементным расчётным модулем “</a:t>
            </a:r>
            <a:r>
              <a:rPr lang="ru-RU" sz="2600" dirty="0" err="1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Pioner</a:t>
            </a:r>
            <a:r>
              <a:rPr lang="ru-RU" sz="2600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2125638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81421A5-4B98-485E-AED0-0DADC639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1445" y="307570"/>
            <a:ext cx="2069110" cy="474243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Задачи ВКР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FEE86C-27E0-4CC1-8FF8-D4377F7C7DFD}"/>
              </a:ext>
            </a:extLst>
          </p:cNvPr>
          <p:cNvSpPr txBox="1"/>
          <p:nvPr/>
        </p:nvSpPr>
        <p:spPr>
          <a:xfrm>
            <a:off x="1347537" y="1047762"/>
            <a:ext cx="1033111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600" b="1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Задачи</a:t>
            </a:r>
            <a:r>
              <a:rPr lang="en-US" sz="2600" b="1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2600" b="1" dirty="0">
                <a:solidFill>
                  <a:schemeClr val="tx1">
                    <a:alpha val="77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2600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</a:t>
            </a:r>
            <a:r>
              <a:rPr lang="en-US" sz="2600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600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Ознакомление с предметной областью.</a:t>
            </a:r>
          </a:p>
          <a:p>
            <a:pPr marL="0" indent="0">
              <a:buNone/>
            </a:pPr>
            <a:r>
              <a:rPr lang="ru-RU" sz="2600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</a:t>
            </a:r>
            <a:r>
              <a:rPr lang="en-US" sz="2600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600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Анализ и выведение комплекса проблем, необходимых для решения поставленной задачи.</a:t>
            </a:r>
          </a:p>
          <a:p>
            <a:pPr marL="0" indent="0">
              <a:buNone/>
            </a:pPr>
            <a:r>
              <a:rPr lang="ru-RU" sz="2600" dirty="0">
                <a:solidFill>
                  <a:schemeClr val="tx1">
                    <a:alpha val="77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ru-RU" sz="2600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600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600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минимально жизнеспособного продукта (</a:t>
            </a:r>
            <a:r>
              <a:rPr lang="ru-RU" sz="2600" dirty="0" err="1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Minimum</a:t>
            </a:r>
            <a:r>
              <a:rPr lang="ru-RU" sz="2600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viable</a:t>
            </a:r>
            <a:r>
              <a:rPr lang="ru-RU" sz="2600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</a:t>
            </a:r>
            <a:r>
              <a:rPr lang="ru-RU" sz="2600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MVP) для формирования плана дальнейшего развития продукта.</a:t>
            </a:r>
          </a:p>
          <a:p>
            <a:pPr marL="0" indent="0">
              <a:buNone/>
            </a:pPr>
            <a:r>
              <a:rPr lang="ru-RU" sz="2600" dirty="0">
                <a:solidFill>
                  <a:schemeClr val="tx1">
                    <a:alpha val="77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ru-RU" sz="2600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600" dirty="0">
                <a:solidFill>
                  <a:schemeClr val="tx1">
                    <a:alpha val="77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600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Тестирование продукта и дальнейшее приведение его в полностью функциональное готовое программное решение.</a:t>
            </a:r>
          </a:p>
          <a:p>
            <a:pPr marL="0" indent="0">
              <a:buNone/>
            </a:pPr>
            <a:r>
              <a:rPr lang="ru-RU" sz="2600" dirty="0">
                <a:solidFill>
                  <a:schemeClr val="tx1">
                    <a:alpha val="77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ru-RU" sz="2600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600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600" dirty="0">
                <a:solidFill>
                  <a:schemeClr val="tx1">
                    <a:alpha val="77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Дальнейшее сопровождение программного продукта.</a:t>
            </a:r>
          </a:p>
        </p:txBody>
      </p:sp>
    </p:spTree>
    <p:extLst>
      <p:ext uri="{BB962C8B-B14F-4D97-AF65-F5344CB8AC3E}">
        <p14:creationId xmlns:p14="http://schemas.microsoft.com/office/powerpoint/2010/main" val="125092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81421A5-4B98-485E-AED0-0DADC639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6491" y="325600"/>
            <a:ext cx="4259018" cy="975798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Описание предметной области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B08A10-811E-47AD-9CA7-9BBFD6B996BB}"/>
              </a:ext>
            </a:extLst>
          </p:cNvPr>
          <p:cNvSpPr txBox="1"/>
          <p:nvPr/>
        </p:nvSpPr>
        <p:spPr>
          <a:xfrm>
            <a:off x="1395661" y="1982450"/>
            <a:ext cx="10122569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	Лаборатория статической прочности используют расчётный модуль “</a:t>
            </a:r>
            <a:r>
              <a:rPr lang="ru-RU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Pioner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” для проведения различных серий расчётов. Взаимодействие с расчётным модулем осуществляется напрямую научными сотрудниками и представителями обслуживающего персонала лаборатории. Не имея удобного инструмента для настройки модуля, возникают неудобства с его использованием в рабочей среде.</a:t>
            </a:r>
          </a:p>
        </p:txBody>
      </p:sp>
    </p:spTree>
    <p:extLst>
      <p:ext uri="{BB962C8B-B14F-4D97-AF65-F5344CB8AC3E}">
        <p14:creationId xmlns:p14="http://schemas.microsoft.com/office/powerpoint/2010/main" val="3799632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81421A5-4B98-485E-AED0-0DADC639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6491" y="325600"/>
            <a:ext cx="4259018" cy="572758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Актуальность и аналоги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DC1F55-503A-4DB6-80BA-C2EE995638EB}"/>
              </a:ext>
            </a:extLst>
          </p:cNvPr>
          <p:cNvSpPr txBox="1"/>
          <p:nvPr/>
        </p:nvSpPr>
        <p:spPr>
          <a:xfrm>
            <a:off x="1331494" y="1299410"/>
            <a:ext cx="1047395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	На сегодняшний день нет решения проблемы. Это связано с уникальностью проблемы, обоснованной в узконаправленной предметной области и в использовании непубличных технологий. Эти же причины являются следствием отсутствия готовых решений, что выделяет данную работу среди остальных и придаёт новизну.</a:t>
            </a:r>
          </a:p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	Данный материал исследования является уникальным благодаря охватываемому спектру изучаемых дисциплин и технологий, необходимых для решения поставленной задачи в выпускной квалификационной работе.</a:t>
            </a:r>
          </a:p>
        </p:txBody>
      </p:sp>
    </p:spTree>
    <p:extLst>
      <p:ext uri="{BB962C8B-B14F-4D97-AF65-F5344CB8AC3E}">
        <p14:creationId xmlns:p14="http://schemas.microsoft.com/office/powerpoint/2010/main" val="1245263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81421A5-4B98-485E-AED0-0DADC639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6491" y="325600"/>
            <a:ext cx="4684528" cy="572758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Диаграмма вариантов (1)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BB945F-8DC2-4297-8CE2-8698B3941831}"/>
              </a:ext>
            </a:extLst>
          </p:cNvPr>
          <p:cNvSpPr txBox="1"/>
          <p:nvPr/>
        </p:nvSpPr>
        <p:spPr>
          <a:xfrm>
            <a:off x="1278855" y="1215662"/>
            <a:ext cx="1040606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	Диаграмма вариантов использования является исходным концептуальным представлением или концептуальной моделью системы в процессе ее проектирования и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320141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81421A5-4B98-485E-AED0-0DADC639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6491" y="325600"/>
            <a:ext cx="4684528" cy="572758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Диаграмма вариантов (2)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736FA1-188A-4802-9422-9DAB0162E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809" y="898358"/>
            <a:ext cx="8181892" cy="587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294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81421A5-4B98-485E-AED0-0DADC639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6491" y="325600"/>
            <a:ext cx="4684528" cy="572758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Диаграмма вариантов (3)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5526D7-3626-4D27-B02C-DEE1929FC21B}"/>
              </a:ext>
            </a:extLst>
          </p:cNvPr>
          <p:cNvSpPr txBox="1"/>
          <p:nvPr/>
        </p:nvSpPr>
        <p:spPr>
          <a:xfrm>
            <a:off x="1106906" y="1716505"/>
            <a:ext cx="10796336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1. Управление аккаунтом:</a:t>
            </a:r>
          </a:p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	• Регистрация</a:t>
            </a:r>
          </a:p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	• Авторизация</a:t>
            </a:r>
          </a:p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	• Изменение личных данных пользователя.</a:t>
            </a:r>
          </a:p>
          <a:p>
            <a:endParaRPr lang="ru-RU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2. Проведение математического моделирования:</a:t>
            </a:r>
          </a:p>
          <a:p>
            <a:pPr lvl="1"/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• Настройка расчётного модуля</a:t>
            </a:r>
          </a:p>
          <a:p>
            <a:pPr lvl="1"/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• Проведение анализа данных</a:t>
            </a:r>
          </a:p>
          <a:p>
            <a:pPr lvl="1"/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• Проведения научного исследования</a:t>
            </a:r>
          </a:p>
          <a:p>
            <a:pPr lvl="1"/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• Обработка экспериментальных данных</a:t>
            </a:r>
          </a:p>
          <a:p>
            <a:endParaRPr lang="ru-RU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553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81421A5-4B98-485E-AED0-0DADC639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6491" y="325600"/>
            <a:ext cx="4684528" cy="572758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Диаграмма вариантов (4)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5526D7-3626-4D27-B02C-DEE1929FC21B}"/>
              </a:ext>
            </a:extLst>
          </p:cNvPr>
          <p:cNvSpPr txBox="1"/>
          <p:nvPr/>
        </p:nvSpPr>
        <p:spPr>
          <a:xfrm>
            <a:off x="1106906" y="1716505"/>
            <a:ext cx="10796336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3. Работа с данными исследований:</a:t>
            </a:r>
          </a:p>
          <a:p>
            <a:pPr lvl="1"/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• Отправка запроса на предоставление данных</a:t>
            </a:r>
          </a:p>
          <a:p>
            <a:pPr lvl="1"/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• Локальная копия данных</a:t>
            </a:r>
          </a:p>
          <a:p>
            <a:pPr lvl="1"/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• Просмотр</a:t>
            </a:r>
          </a:p>
          <a:p>
            <a:pPr lvl="1"/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• Редактирование</a:t>
            </a:r>
          </a:p>
          <a:p>
            <a:pPr lvl="1"/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• Сохранение</a:t>
            </a:r>
          </a:p>
          <a:p>
            <a:pPr lvl="1"/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• Поиск</a:t>
            </a:r>
          </a:p>
          <a:p>
            <a:endParaRPr lang="ru-RU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4. Формирование отчётов исследований:</a:t>
            </a:r>
          </a:p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	• Формирования определённых отчётов о состоянии проведённых 	работ и их сохранение.</a:t>
            </a:r>
          </a:p>
        </p:txBody>
      </p:sp>
    </p:spTree>
    <p:extLst>
      <p:ext uri="{BB962C8B-B14F-4D97-AF65-F5344CB8AC3E}">
        <p14:creationId xmlns:p14="http://schemas.microsoft.com/office/powerpoint/2010/main" val="643455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81421A5-4B98-485E-AED0-0DADC639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025" y="285982"/>
            <a:ext cx="3878098" cy="1102147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Стек технологий и среды разработки (1)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5526D7-3626-4D27-B02C-DEE1929FC21B}"/>
              </a:ext>
            </a:extLst>
          </p:cNvPr>
          <p:cNvSpPr txBox="1"/>
          <p:nvPr/>
        </p:nvSpPr>
        <p:spPr>
          <a:xfrm>
            <a:off x="1214212" y="1477286"/>
            <a:ext cx="10796336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1. Языки программирования:</a:t>
            </a:r>
          </a:p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	- 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JavaScript 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спецификации 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ECMAScript</a:t>
            </a:r>
          </a:p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TypeScript 5.3.3</a:t>
            </a:r>
          </a:p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Python 3.12.1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4E5ACA0-C19C-418B-85CB-604B9229E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440" y="3429000"/>
            <a:ext cx="2257926" cy="22579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935492D-F1E7-4635-AA9D-F600CBFEE5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111" y="3429000"/>
            <a:ext cx="2257926" cy="225792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71F86D-CB11-4AF3-9172-25B0E46B4B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782" y="3323523"/>
            <a:ext cx="2252114" cy="24688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318E15-9311-4041-9F19-742C2D4C7656}"/>
              </a:ext>
            </a:extLst>
          </p:cNvPr>
          <p:cNvSpPr txBox="1"/>
          <p:nvPr/>
        </p:nvSpPr>
        <p:spPr>
          <a:xfrm>
            <a:off x="1711333" y="5703509"/>
            <a:ext cx="184813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JavaScript</a:t>
            </a:r>
          </a:p>
          <a:p>
            <a:pPr algn="ctr"/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ECMAScript</a:t>
            </a:r>
            <a:endParaRPr lang="ru-RU" sz="2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ECFED9-16F8-4985-B562-ED225CE6536B}"/>
              </a:ext>
            </a:extLst>
          </p:cNvPr>
          <p:cNvSpPr txBox="1"/>
          <p:nvPr/>
        </p:nvSpPr>
        <p:spPr>
          <a:xfrm>
            <a:off x="5802341" y="5701766"/>
            <a:ext cx="162007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TypeScript</a:t>
            </a:r>
          </a:p>
          <a:p>
            <a:pPr algn="ctr"/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5.3.3</a:t>
            </a:r>
            <a:endParaRPr lang="ru-RU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9D9CC9-E7C6-4A7C-AD2E-F14B01E795A6}"/>
              </a:ext>
            </a:extLst>
          </p:cNvPr>
          <p:cNvSpPr txBox="1"/>
          <p:nvPr/>
        </p:nvSpPr>
        <p:spPr>
          <a:xfrm>
            <a:off x="9561800" y="5686926"/>
            <a:ext cx="162007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Python</a:t>
            </a:r>
          </a:p>
          <a:p>
            <a:pPr algn="ctr"/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3.12.1</a:t>
            </a:r>
            <a:endParaRPr lang="ru-RU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376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81421A5-4B98-485E-AED0-0DADC639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025" y="285982"/>
            <a:ext cx="3878098" cy="1102147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Стек технологий и среды разработки (</a:t>
            </a:r>
            <a:r>
              <a:rPr lang="en-US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ru-RU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5526D7-3626-4D27-B02C-DEE1929FC21B}"/>
              </a:ext>
            </a:extLst>
          </p:cNvPr>
          <p:cNvSpPr txBox="1"/>
          <p:nvPr/>
        </p:nvSpPr>
        <p:spPr>
          <a:xfrm>
            <a:off x="1106906" y="1364403"/>
            <a:ext cx="1079633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2.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Основные фреймворки и библиотеки:</a:t>
            </a:r>
          </a:p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FastAPI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0.104.1</a:t>
            </a:r>
          </a:p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	-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Websocket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12.0</a:t>
            </a:r>
          </a:p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	-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Pydantic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2.5.3</a:t>
            </a:r>
          </a:p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	- Bokeh 3.4</a:t>
            </a:r>
          </a:p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	-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Uvicorn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0.26.0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318E15-9311-4041-9F19-742C2D4C7656}"/>
              </a:ext>
            </a:extLst>
          </p:cNvPr>
          <p:cNvSpPr txBox="1"/>
          <p:nvPr/>
        </p:nvSpPr>
        <p:spPr>
          <a:xfrm>
            <a:off x="1287679" y="5347096"/>
            <a:ext cx="185001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FastAPI</a:t>
            </a: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0.104.1</a:t>
            </a:r>
            <a:endParaRPr lang="ru-RU" sz="2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ECFED9-16F8-4985-B562-ED225CE6536B}"/>
              </a:ext>
            </a:extLst>
          </p:cNvPr>
          <p:cNvSpPr txBox="1"/>
          <p:nvPr/>
        </p:nvSpPr>
        <p:spPr>
          <a:xfrm>
            <a:off x="3538523" y="5345380"/>
            <a:ext cx="171873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Websocket</a:t>
            </a: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12.0</a:t>
            </a:r>
            <a:endParaRPr lang="ru-RU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9D9CC9-E7C6-4A7C-AD2E-F14B01E795A6}"/>
              </a:ext>
            </a:extLst>
          </p:cNvPr>
          <p:cNvSpPr txBox="1"/>
          <p:nvPr/>
        </p:nvSpPr>
        <p:spPr>
          <a:xfrm>
            <a:off x="5980648" y="5350999"/>
            <a:ext cx="143767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Pydantic</a:t>
            </a: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2.5.3</a:t>
            </a:r>
            <a:endParaRPr lang="ru-RU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CD2D566-DDFF-4FE7-A0BE-0D2A12521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987" y="4495515"/>
            <a:ext cx="2441331" cy="88059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C01BDD-A95B-4903-984D-12777F801F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7316" y="3966525"/>
            <a:ext cx="1935978" cy="129065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562EAEB-C784-490E-B544-977BBEA116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8134" y="4862415"/>
            <a:ext cx="1871137" cy="373832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64E54FD-C3DC-42E9-804E-E0A3274892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4283" y="4452828"/>
            <a:ext cx="1785104" cy="892552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AE1F4E5-58C3-4C21-B5D8-3DABDB585D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926" y="3402451"/>
            <a:ext cx="1921999" cy="192199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B022EAF-B79E-4DA6-9019-155D6A8DB760}"/>
              </a:ext>
            </a:extLst>
          </p:cNvPr>
          <p:cNvSpPr txBox="1"/>
          <p:nvPr/>
        </p:nvSpPr>
        <p:spPr>
          <a:xfrm>
            <a:off x="7948000" y="5345380"/>
            <a:ext cx="143767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Bokeh</a:t>
            </a:r>
          </a:p>
          <a:p>
            <a:pPr algn="ctr"/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3.4</a:t>
            </a:r>
            <a:endParaRPr lang="ru-RU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F0EDF2-CBB1-497E-8462-D929AB6E005D}"/>
              </a:ext>
            </a:extLst>
          </p:cNvPr>
          <p:cNvSpPr txBox="1"/>
          <p:nvPr/>
        </p:nvSpPr>
        <p:spPr>
          <a:xfrm>
            <a:off x="10187089" y="5345380"/>
            <a:ext cx="143767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Uvicorn</a:t>
            </a: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0.26.0</a:t>
            </a:r>
            <a:endParaRPr lang="ru-RU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311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81421A5-4B98-485E-AED0-0DADC639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025" y="285982"/>
            <a:ext cx="3878098" cy="1102147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Стек технологий и среды разработки (</a:t>
            </a:r>
            <a:r>
              <a:rPr lang="en-US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ru-RU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5526D7-3626-4D27-B02C-DEE1929FC21B}"/>
              </a:ext>
            </a:extLst>
          </p:cNvPr>
          <p:cNvSpPr txBox="1"/>
          <p:nvPr/>
        </p:nvSpPr>
        <p:spPr>
          <a:xfrm>
            <a:off x="1214212" y="1747788"/>
            <a:ext cx="1079633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3.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Система управления базами данных:</a:t>
            </a:r>
          </a:p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MongoDB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 6.0.7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3BA1FAF-D9DB-48C9-900D-15567C401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856" y="3469648"/>
            <a:ext cx="7156435" cy="19288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DE011F-8851-48FA-BB10-C75D953E68FF}"/>
              </a:ext>
            </a:extLst>
          </p:cNvPr>
          <p:cNvSpPr txBox="1"/>
          <p:nvPr/>
        </p:nvSpPr>
        <p:spPr>
          <a:xfrm>
            <a:off x="5843131" y="5398531"/>
            <a:ext cx="1538498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MongoDB</a:t>
            </a:r>
          </a:p>
          <a:p>
            <a:pPr algn="ctr"/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6.0.7</a:t>
            </a:r>
            <a:endParaRPr lang="ru-RU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337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81421A5-4B98-485E-AED0-0DADC639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5676" y="285982"/>
            <a:ext cx="4962986" cy="569254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Графический интерфейс (1)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526B4-6A6F-4E94-97D3-B068219B1155}"/>
              </a:ext>
            </a:extLst>
          </p:cNvPr>
          <p:cNvSpPr txBox="1"/>
          <p:nvPr/>
        </p:nvSpPr>
        <p:spPr>
          <a:xfrm>
            <a:off x="1368612" y="1279358"/>
            <a:ext cx="9957114" cy="2847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ru-RU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Требования к пользовательскому интерфейсу могут быть разбиты на две группы: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1. требования к внешнему виду пользовательского 	интерфейса;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2. требования по доступу к функциональности системы при 	помощи пользовательского интерфейса.</a:t>
            </a:r>
          </a:p>
        </p:txBody>
      </p:sp>
    </p:spTree>
    <p:extLst>
      <p:ext uri="{BB962C8B-B14F-4D97-AF65-F5344CB8AC3E}">
        <p14:creationId xmlns:p14="http://schemas.microsoft.com/office/powerpoint/2010/main" val="4284928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81421A5-4B98-485E-AED0-0DADC639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5676" y="285982"/>
            <a:ext cx="4962986" cy="569254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Графический интерфейс (2)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526B4-6A6F-4E94-97D3-B068219B1155}"/>
              </a:ext>
            </a:extLst>
          </p:cNvPr>
          <p:cNvSpPr txBox="1"/>
          <p:nvPr/>
        </p:nvSpPr>
        <p:spPr>
          <a:xfrm>
            <a:off x="3527728" y="5847470"/>
            <a:ext cx="5136544" cy="501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ru-RU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Схема главной веб страницы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C3A9D3C-A14B-479E-8708-1BABD370E64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969" y="1112169"/>
            <a:ext cx="8596062" cy="46336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3979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81421A5-4B98-485E-AED0-0DADC639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5676" y="285982"/>
            <a:ext cx="4962986" cy="569254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Графический интерфейс (3)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526B4-6A6F-4E94-97D3-B068219B1155}"/>
              </a:ext>
            </a:extLst>
          </p:cNvPr>
          <p:cNvSpPr txBox="1"/>
          <p:nvPr/>
        </p:nvSpPr>
        <p:spPr>
          <a:xfrm>
            <a:off x="3239221" y="5815663"/>
            <a:ext cx="6215894" cy="501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ru-RU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Образец оформления веб-страницы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472906A-D182-4F0F-82C5-AE7A6B735B0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325" y="1112122"/>
            <a:ext cx="8759687" cy="46337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6782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81421A5-4B98-485E-AED0-0DADC639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5676" y="285982"/>
            <a:ext cx="4962986" cy="569254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Заключение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7AB18A-9A06-4F23-ACD8-877E320CF583}"/>
              </a:ext>
            </a:extLst>
          </p:cNvPr>
          <p:cNvSpPr txBox="1"/>
          <p:nvPr/>
        </p:nvSpPr>
        <p:spPr>
          <a:xfrm>
            <a:off x="1284562" y="1002268"/>
            <a:ext cx="1029783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	В результате выполнения данной квалификационной работы было разработано программное средство, удовлетворяющее требованиям заказчика.</a:t>
            </a:r>
          </a:p>
          <a:p>
            <a:endParaRPr lang="ru-RU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Было проведено комплексное решения поставленных задач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	1. 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Проведено ознакомление с предметной областью и анализ 	требований заказчика</a:t>
            </a:r>
          </a:p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	2. Был спроектирован план выполнения работ</a:t>
            </a:r>
          </a:p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	3. Был пройден полный цикл жизнеспособного продукта 	включая тестирование и сопровождение</a:t>
            </a:r>
          </a:p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	4. Было произведено внедрение продукта в целевую среду</a:t>
            </a:r>
          </a:p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	5. Сопровождающее документирование продукта</a:t>
            </a: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565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81421A5-4B98-485E-AED0-0DADC639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3180" y="3144373"/>
            <a:ext cx="6105639" cy="569254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Спасибо за уделенное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974098326"/>
      </p:ext>
    </p:extLst>
  </p:cSld>
  <p:clrMapOvr>
    <a:masterClrMapping/>
  </p:clrMapOvr>
</p:sld>
</file>

<file path=ppt/theme/theme1.xml><?xml version="1.0" encoding="utf-8"?>
<a:theme xmlns:a="http://schemas.openxmlformats.org/drawingml/2006/main" name="LinesVTI">
  <a:themeElements>
    <a:clrScheme name="Lines">
      <a:dk1>
        <a:sysClr val="windowText" lastClr="000000"/>
      </a:dk1>
      <a:lt1>
        <a:sysClr val="window" lastClr="FFFFFF"/>
      </a:lt1>
      <a:dk2>
        <a:srgbClr val="592F34"/>
      </a:dk2>
      <a:lt2>
        <a:srgbClr val="F8EFE3"/>
      </a:lt2>
      <a:accent1>
        <a:srgbClr val="5B8E96"/>
      </a:accent1>
      <a:accent2>
        <a:srgbClr val="B09BA2"/>
      </a:accent2>
      <a:accent3>
        <a:srgbClr val="E3835D"/>
      </a:accent3>
      <a:accent4>
        <a:srgbClr val="7B99DB"/>
      </a:accent4>
      <a:accent5>
        <a:srgbClr val="D09245"/>
      </a:accent5>
      <a:accent6>
        <a:srgbClr val="96A82C"/>
      </a:accent6>
      <a:hlink>
        <a:srgbClr val="5B8E96"/>
      </a:hlink>
      <a:folHlink>
        <a:srgbClr val="B5826E"/>
      </a:folHlink>
    </a:clrScheme>
    <a:fontScheme name="NH Grotesk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nesVTI" id="{6E3869FE-86F4-49DA-A8B9-3320C89167F7}" vid="{3A76BC48-4881-4AE8-821D-8B9CC9A08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</TotalTime>
  <Words>636</Words>
  <Application>Microsoft Office PowerPoint</Application>
  <PresentationFormat>Широкоэкранный</PresentationFormat>
  <Paragraphs>101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Calibri</vt:lpstr>
      <vt:lpstr>Neue Haas Grotesk Text Pro</vt:lpstr>
      <vt:lpstr>Tahoma</vt:lpstr>
      <vt:lpstr>Wingdings 2</vt:lpstr>
      <vt:lpstr>LinesVTI</vt:lpstr>
      <vt:lpstr>Разработка веб-приложения для взаимодействия с конечно-элементным расчётным модулем “Pioner” на примере задачи простого сдвига</vt:lpstr>
      <vt:lpstr>Цели ВКР</vt:lpstr>
      <vt:lpstr>Задачи ВКР</vt:lpstr>
      <vt:lpstr>Описание предметной области</vt:lpstr>
      <vt:lpstr>Актуальность и аналоги</vt:lpstr>
      <vt:lpstr>Диаграмма вариантов (1)</vt:lpstr>
      <vt:lpstr>Диаграмма вариантов (2)</vt:lpstr>
      <vt:lpstr>Диаграмма вариантов (3)</vt:lpstr>
      <vt:lpstr>Диаграмма вариантов (4)</vt:lpstr>
      <vt:lpstr>Стек технологий и среды разработки (1)</vt:lpstr>
      <vt:lpstr>Стек технологий и среды разработки (2)</vt:lpstr>
      <vt:lpstr>Стек технологий и среды разработки (3)</vt:lpstr>
      <vt:lpstr>Графический интерфейс (1)</vt:lpstr>
      <vt:lpstr>Графический интерфейс (2)</vt:lpstr>
      <vt:lpstr>Графический интерфейс (3)</vt:lpstr>
      <vt:lpstr>Заключение</vt:lpstr>
      <vt:lpstr>Спасибо за уделенное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веб-приложения для взаимодействия с конечно-элементным расчётным модулем “Pioner” на примере задачи простого сдвига</dc:title>
  <dc:creator>KirillS9 Shon</dc:creator>
  <cp:lastModifiedBy>KirillS9 Shon</cp:lastModifiedBy>
  <cp:revision>2</cp:revision>
  <dcterms:created xsi:type="dcterms:W3CDTF">2024-01-18T16:29:21Z</dcterms:created>
  <dcterms:modified xsi:type="dcterms:W3CDTF">2024-01-19T00:39:34Z</dcterms:modified>
</cp:coreProperties>
</file>